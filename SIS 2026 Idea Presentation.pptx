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?>
<ns0:Relationships xmlns:ns0="http://schemas.openxmlformats.org/package/2006/relationships"><ns0:Relationship Id="rId13" Type="http://schemas.openxmlformats.org/officeDocument/2006/relationships/tableStyles" Target="tableStyle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theme" Target="theme/theme1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viewProps" Target="viewProps.xml" /><ns0:Relationship Id="rId5" Type="http://schemas.openxmlformats.org/officeDocument/2006/relationships/slide" Target="slides/slide4.xml" /><ns0:Relationship Id="rId10" Type="http://schemas.openxmlformats.org/officeDocument/2006/relationships/presProps" Target="presProps.xml" /><ns0:Relationship Id="rId4" Type="http://schemas.openxmlformats.org/officeDocument/2006/relationships/slide" Target="slides/slide3.xml" /><ns0:Relationship Id="rId9" Type="http://schemas.openxmlformats.org/officeDocument/2006/relationships/notesMaster" Target="notesMasters/notesMaster1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diag_s2.png" /></ns0:Relationships>
</file>

<file path=ppt/slides/_rels/slide3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2.xml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diag_s3.png" /></ns0:Relationships>
</file>

<file path=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3.xml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diag_s4.png" /></ns0:Relationships>
</file>

<file path=ppt/slides/_rels/slide5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notesSlide" Target="../notesSlides/notesSlide4.xml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diag_s5.png" /></ns0: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5/main" xmlns:ns6="http://schemas.microsoft.com/office/drawing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ns2:creationId id="{3E443FD7-A66B-4AA0-872D-B088B9BC5F17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ns2:creationId id="{C04BE0EF-3561-49B4-9A29-F283168A91C7}"/>
              </a:ext>
              <a:ext uri="{C183D7F6-B498-43B3-948B-1728B52AA6E4}">
                <ns3:decorative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ns4:designElem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ns2:creationId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0000" indent="-300000" algn="left">
              <a:lnSpc>
                <a:spcPct val="120000"/>
              </a:lnSpc>
              <a:spcBfr>
                <a:spcPts val="140000"/>
              </a:spcBfr>
              <a:buFont typeface="Arial"/>
              <a:buChar char="•"/>
            </a:pPr>
            <a:r>
              <a:rPr lang="en-US" sz="20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 Statement ID – </a:t>
            </a:r>
            <a:r>
              <a:rPr lang="en-US" sz="20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SIH1431</a:t>
            </a:r>
          </a:p>
          <a:p>
            <a:pPr marL="300000" indent="-300000" algn="left">
              <a:lnSpc>
                <a:spcPct val="120000"/>
              </a:lnSpc>
              <a:spcBfr>
                <a:spcPts val="140000"/>
              </a:spcBfr>
              <a:buFont typeface="Arial"/>
              <a:buChar char="•"/>
            </a:pPr>
            <a:r>
              <a:rPr lang="en-US"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 Statement Title – </a:t>
            </a:r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Online personalized learning remediation/tutoring tool. Search for best teacher for specific topics.</a:t>
            </a:r>
          </a:p>
          <a:p>
            <a:pPr marL="300000" indent="-300000" algn="left">
              <a:lnSpc>
                <a:spcPct val="120000"/>
              </a:lnSpc>
              <a:spcBfr>
                <a:spcPts val="140000"/>
              </a:spcBfr>
              <a:buFont typeface="Arial"/>
              <a:buChar char="•"/>
            </a:pPr>
            <a:r>
              <a:rPr lang="en-US" sz="20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Theme – </a:t>
            </a:r>
            <a:r>
              <a:rPr lang="en-US" sz="20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Smart Education</a:t>
            </a:r>
          </a:p>
          <a:p>
            <a:pPr marL="300000" indent="-300000" algn="left">
              <a:lnSpc>
                <a:spcPct val="120000"/>
              </a:lnSpc>
              <a:spcBfr>
                <a:spcPts val="140000"/>
              </a:spcBfr>
              <a:buFont typeface="Arial"/>
              <a:buChar char="•"/>
            </a:pPr>
            <a:r>
              <a:rPr lang="en-US" sz="20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PS Category – </a:t>
            </a:r>
            <a:r>
              <a:rPr lang="en-US" sz="20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Software</a:t>
            </a:r>
          </a:p>
          <a:p>
            <a:pPr marL="300000" indent="-300000" algn="left">
              <a:lnSpc>
                <a:spcPct val="120000"/>
              </a:lnSpc>
              <a:spcBfr>
                <a:spcPts val="140000"/>
              </a:spcBfr>
              <a:buFont typeface="Arial"/>
              <a:buChar char="•"/>
            </a:pPr>
            <a:r>
              <a:rPr lang="en-US" sz="20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Team ID – </a:t>
            </a:r>
            <a:r>
              <a:rPr lang="en-US" sz="20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[Registered Team ID]</a:t>
            </a:r>
          </a:p>
          <a:p>
            <a:pPr marL="300000" indent="-300000" algn="left">
              <a:lnSpc>
                <a:spcPct val="120000"/>
              </a:lnSpc>
              <a:spcBfr>
                <a:spcPts val="140000"/>
              </a:spcBfr>
              <a:buFont typeface="Arial"/>
              <a:buChar char="•"/>
            </a:pPr>
            <a:r>
              <a:rPr lang="en-US" sz="20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Team Name – </a:t>
            </a:r>
            <a:r>
              <a:rPr lang="en-US" sz="20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AUTHENTIX</a:t>
            </a:r>
          </a:p>
          <a:p>
            <a:pPr marL="300000" indent="-300000" algn="left">
              <a:lnSpc>
                <a:spcPct val="120000"/>
              </a:lnSpc>
              <a:spcBfr>
                <a:spcPts val="140000"/>
              </a:spcBfr>
              <a:buFont typeface="Arial"/>
              <a:buChar char="•"/>
            </a:pPr>
            <a:r>
              <a:rPr lang="en-US" sz="18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– </a:t>
            </a:r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VIDYA AI: Cognitive Remediation &amp; Semantic Teacher Discovery Engine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6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drawing/2017/decorative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SOLUTION: VIDYA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AUTHENTIX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0" name="ContentLeft"/>
          <p:cNvSpPr txBox="1"/>
          <p:nvPr/>
        </p:nvSpPr>
        <p:spPr>
          <a:xfrm>
            <a:off x="600000" y="1950000"/>
            <a:ext cx="5300000" cy="42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eft">
              <a:lnSpc>
                <a:spcPct val="120000"/>
              </a:lnSpc>
              <a:spcBfr>
                <a:spcPts val="20000"/>
              </a:spcBfr>
              <a:buNone/>
            </a:pPr>
            <a:r>
              <a:rPr lang="en-US" sz="17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VIDYA AI: Cognitive Remediation &amp; Teacher Discovery</a:t>
            </a:r>
          </a:p>
          <a:p>
            <a:pPr marL="240000" indent="-240000" algn="left">
              <a:lnSpc>
                <a:spcPct val="115000"/>
              </a:lnSpc>
              <a:spcBfr>
                <a:spcPts val="75000"/>
              </a:spcBfr>
              <a:buFont typeface="Arial"/>
              <a:buChar char="•"/>
            </a:pPr>
            <a:r>
              <a:rPr lang="en-US" sz="13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Closed-Loop Cognitive Architecture: </a:t>
            </a:r>
            <a:r>
              <a:rPr lang="en-US" sz="13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Integrates real-time student misconception diagnosis with semantic, topic-specific teacher discovery.</a:t>
            </a:r>
          </a:p>
          <a:p>
            <a:pPr marL="240000" indent="-240000" algn="left">
              <a:lnSpc>
                <a:spcPct val="115000"/>
              </a:lnSpc>
              <a:spcBfr>
                <a:spcPts val="75000"/>
              </a:spcBfr>
              <a:buFont typeface="Arial"/>
              <a:buChar char="•"/>
            </a:pPr>
            <a:r>
              <a:rPr lang="en-US" sz="13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Knowledge DAG Tracing: </a:t>
            </a:r>
            <a:r>
              <a:rPr lang="en-US" sz="13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Traverses a Prerequisite Knowledge DAG to isolate the exact atomic barrier (e.g. Eigenvalue trace rule, Recursion base-cases) behind failed questions.</a:t>
            </a:r>
          </a:p>
          <a:p>
            <a:pPr marL="240000" indent="-240000" algn="left">
              <a:lnSpc>
                <a:spcPct val="115000"/>
              </a:lnSpc>
              <a:spcBfr>
                <a:spcPts val="75000"/>
              </a:spcBfr>
              <a:buFont typeface="Arial"/>
              <a:buChar char="•"/>
            </a:pPr>
            <a:r>
              <a:rPr lang="en-US" sz="13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Deterministic Step-by-Step Proofs: </a:t>
            </a:r>
            <a:r>
              <a:rPr lang="en-US" sz="13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Instant KaTeX derivations backed by automated mathematical sanity assertions with zero hallucination.</a:t>
            </a:r>
          </a:p>
          <a:p>
            <a:pPr marL="240000" indent="-240000" algn="left">
              <a:lnSpc>
                <a:spcPct val="115000"/>
              </a:lnSpc>
              <a:spcBfr>
                <a:spcPts val="75000"/>
              </a:spcBfr>
              <a:buFont typeface="Arial"/>
              <a:buChar char="•"/>
            </a:pPr>
            <a:r>
              <a:rPr lang="en-US" sz="13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On-Demand Micro-Tutoring: </a:t>
            </a:r>
            <a:r>
              <a:rPr lang="en-US" sz="13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Eliminates predatory ₹50,000 annual packages by offering 10-minute 1-on-1 peer doubt clearing sessions for pennies.</a:t>
            </a:r>
          </a:p>
          <a:p>
            <a:pPr marL="240000" indent="-240000" algn="left">
              <a:lnSpc>
                <a:spcPct val="115000"/>
              </a:lnSpc>
              <a:spcBfr>
                <a:spcPts val="75000"/>
              </a:spcBfr>
              <a:buFont typeface="Arial"/>
              <a:buChar char="•"/>
            </a:pPr>
            <a:r>
              <a:rPr lang="en-US" sz="13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Cognitive Memory Twin: </a:t>
            </a:r>
            <a:r>
              <a:rPr lang="en-US" sz="13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SuperMemo SM-2 spaced repetition scheduler reinforces concepts before decay, lifting 30-day retention from 20% to &gt;75%.</a:t>
            </a:r>
          </a:p>
        </p:txBody>
      </p:sp>
      <p:pic>
        <p:nvPicPr>
          <p:cNvPr id="51" name="Remediation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000" y="2050000"/>
            <a:ext cx="5450000" cy="40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drawing/2017/decorative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AUTHENTIX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0" name="ContentLeft"/>
          <p:cNvSpPr txBox="1"/>
          <p:nvPr/>
        </p:nvSpPr>
        <p:spPr>
          <a:xfrm>
            <a:off x="600000" y="1950000"/>
            <a:ext cx="5300000" cy="42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eft">
              <a:lnSpc>
                <a:spcPct val="120000"/>
              </a:lnSpc>
              <a:spcBfr>
                <a:spcPts val="20000"/>
              </a:spcBfr>
              <a:buNone/>
            </a:pPr>
            <a:r>
              <a:rPr lang="en-US" sz="17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Technology Stack &amp; Implementation Architecture</a:t>
            </a:r>
          </a:p>
          <a:p>
            <a:pPr marL="240000" indent="-240000" algn="left">
              <a:lnSpc>
                <a:spcPct val="115000"/>
              </a:lnSpc>
              <a:spcBfr>
                <a:spcPts val="75000"/>
              </a:spcBfr>
              <a:buFont typeface="Arial"/>
              <a:buChar char="•"/>
            </a:pPr>
            <a:r>
              <a:rPr lang="en-US" sz="13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Frontend &amp; Interaction: </a:t>
            </a:r>
            <a:r>
              <a:rPr lang="en-US" sz="13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React 19 PWA, TypeScript, Tailwind CSS, KaTeX LaTeX math parser, and interactive HTML5 canvas whiteboard.</a:t>
            </a:r>
          </a:p>
          <a:p>
            <a:pPr marL="240000" indent="-240000" algn="left">
              <a:lnSpc>
                <a:spcPct val="115000"/>
              </a:lnSpc>
              <a:spcBfr>
                <a:spcPts val="75000"/>
              </a:spcBfr>
              <a:buFont typeface="Arial"/>
              <a:buChar char="•"/>
            </a:pPr>
            <a:r>
              <a:rPr lang="en-US" sz="13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AI &amp; Diagnostics Core: </a:t>
            </a:r>
            <a:r>
              <a:rPr lang="en-US" sz="13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Deep Knowledge Tracing (DKT), Sentence-Transformers (all-MiniLM-L6-v2) for dense topic embeddings, and Gemini 1.5 Flash.</a:t>
            </a:r>
          </a:p>
          <a:p>
            <a:pPr marL="240000" indent="-240000" algn="left">
              <a:lnSpc>
                <a:spcPct val="115000"/>
              </a:lnSpc>
              <a:spcBfr>
                <a:spcPts val="75000"/>
              </a:spcBfr>
              <a:buFont typeface="Arial"/>
              <a:buChar char="•"/>
            </a:pPr>
            <a:r>
              <a:rPr lang="en-US" sz="13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Vector DB &amp; Data Tier: </a:t>
            </a:r>
            <a:r>
              <a:rPr lang="en-US" sz="13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PostgreSQL with pgvector (HNSW indexing for sub-15ms semantic searches), Redis session cache, and syllabus DAG.</a:t>
            </a:r>
          </a:p>
          <a:p>
            <a:pPr marL="240000" indent="-240000" algn="left">
              <a:lnSpc>
                <a:spcPct val="115000"/>
              </a:lnSpc>
              <a:spcBfr>
                <a:spcPts val="75000"/>
              </a:spcBfr>
              <a:buFont typeface="Arial"/>
              <a:buChar char="•"/>
            </a:pPr>
            <a:r>
              <a:rPr lang="en-US" sz="13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Zero-Cost Live Media: </a:t>
            </a:r>
            <a:r>
              <a:rPr lang="en-US" sz="13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Peer-to-Peer WebRTC audio/video mesh and synchronized whiteboard with zero central relay bandwidth overhead.</a:t>
            </a:r>
          </a:p>
          <a:p>
            <a:pPr marL="240000" indent="-240000" algn="left">
              <a:lnSpc>
                <a:spcPct val="115000"/>
              </a:lnSpc>
              <a:spcBfr>
                <a:spcPts val="75000"/>
              </a:spcBfr>
              <a:buFont typeface="Arial"/>
              <a:buChar char="•"/>
            </a:pPr>
            <a:r>
              <a:rPr lang="en-US" sz="13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Deterministic Assertions: </a:t>
            </a:r>
            <a:r>
              <a:rPr lang="en-US" sz="13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Automated algebraic consistency checks prevent model hallucinations before rendering to the student.</a:t>
            </a:r>
          </a:p>
        </p:txBody>
      </p:sp>
      <p:pic>
        <p:nvPicPr>
          <p:cNvPr id="61" name="Architecture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000" y="2050000"/>
            <a:ext cx="5450000" cy="40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drawing/2017/decorative" xmlns:ns5="http://schemas.microsoft.com/office/drawing/2010/main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AUTHENTIX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70" name="ContentLeft"/>
          <p:cNvSpPr txBox="1"/>
          <p:nvPr/>
        </p:nvSpPr>
        <p:spPr>
          <a:xfrm>
            <a:off x="600000" y="1950000"/>
            <a:ext cx="5300000" cy="42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eft">
              <a:lnSpc>
                <a:spcPct val="120000"/>
              </a:lnSpc>
              <a:spcBfr>
                <a:spcPts val="20000"/>
              </a:spcBfr>
              <a:buNone/>
            </a:pPr>
            <a:r>
              <a:rPr lang="en-US" sz="17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Feasibility Analysis &amp; Risk Mitigation</a:t>
            </a:r>
          </a:p>
          <a:p>
            <a:pPr marL="240000" indent="-240000" algn="left">
              <a:lnSpc>
                <a:spcPct val="115000"/>
              </a:lnSpc>
              <a:spcBfr>
                <a:spcPts val="6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High 36-Hour Feasibility: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Core UI, AICTE R25 syllabus database, KaTeX math renderer, and quiz engine are already built and tested.</a:t>
            </a:r>
          </a:p>
          <a:p>
            <a:pPr marL="240000" indent="-240000" algn="left">
              <a:lnSpc>
                <a:spcPct val="115000"/>
              </a:lnSpc>
              <a:spcBfr>
                <a:spcPts val="6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Zero Cost Burden: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100% open-source software (HuggingFace embeddings, PostgreSQL pgvector, WebRTC) ensures free access without server costs.</a:t>
            </a:r>
          </a:p>
          <a:p>
            <a:pPr marL="240000" indent="-240000" algn="left">
              <a:lnSpc>
                <a:spcPct val="115000"/>
              </a:lnSpc>
              <a:spcBfr>
                <a:spcPts val="6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Hardware Inclusivity: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Ultra-lightweight Progressive Web App (PWA) operates smoothly on entry-level Android devices and 2G/3G networks.</a:t>
            </a:r>
          </a:p>
          <a:p>
            <a:pPr marL="240000" indent="-240000" algn="left">
              <a:lnSpc>
                <a:spcPct val="115000"/>
              </a:lnSpc>
              <a:spcBfr>
                <a:spcPts val="6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Risk 1 &amp; Mitigation (AI Hallucinations):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Automated deterministic math sanity assertions (e.g. Trace = Sum of Eigenvalues) verify steps.</a:t>
            </a:r>
          </a:p>
          <a:p>
            <a:pPr marL="240000" indent="-240000" algn="left">
              <a:lnSpc>
                <a:spcPct val="115000"/>
              </a:lnSpc>
              <a:spcBfr>
                <a:spcPts val="6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Risk 2 &amp; Mitigation (Tutor Fraud):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Topic badges are tied strictly to objective student quiz pass rates, preventing fake reviews.</a:t>
            </a:r>
          </a:p>
          <a:p>
            <a:pPr marL="240000" indent="-240000" algn="left">
              <a:lnSpc>
                <a:spcPct val="115000"/>
              </a:lnSpc>
              <a:spcBfr>
                <a:spcPts val="6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Risk 3 &amp; Mitigation (Scalability):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Direct P2P WebRTC architecture handles 100,000+ simultaneous sessions without media server bandwidth costs.</a:t>
            </a:r>
          </a:p>
        </p:txBody>
      </p:sp>
      <p:pic>
        <p:nvPicPr>
          <p:cNvPr id="71" name="Roadmap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000" y="2050000"/>
            <a:ext cx="5450000" cy="4050000"/>
          </a:xfrm>
          <a:prstGeom prst="rect">
            <a:avLst/>
          </a:prstGeom>
        </p:spPr>
      </p:pic>
    </p:spTree>
    <p:extLst>
      <p:ext uri="{BB962C8B-B14F-4D97-AF65-F5344CB8AC3E}">
        <ns6:creationId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drawing/2017/decorative" xmlns:ns5="http://schemas.microsoft.com/office/drawing/2010/main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AUTHENTIX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80" name="MetricsBann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00" y="1850000"/>
            <a:ext cx="11000000" cy="1420000"/>
          </a:xfrm>
          <a:prstGeom prst="rect">
            <a:avLst/>
          </a:prstGeom>
        </p:spPr>
      </p:pic>
      <p:sp>
        <p:nvSpPr>
          <p:cNvPr id="81" name="ImpactLeft"/>
          <p:cNvSpPr txBox="1"/>
          <p:nvPr/>
        </p:nvSpPr>
        <p:spPr>
          <a:xfrm>
            <a:off x="600000" y="3450000"/>
            <a:ext cx="5300000" cy="27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eft">
              <a:lnSpc>
                <a:spcPct val="120000"/>
              </a:lnSpc>
              <a:spcBfr>
                <a:spcPts val="20000"/>
              </a:spcBfr>
              <a:buNone/>
            </a:pPr>
            <a:r>
              <a:rPr lang="en-US" sz="16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Demographic &amp; Socio-Economic Reach</a:t>
            </a:r>
          </a:p>
          <a:p>
            <a:pPr marL="240000" indent="-240000" algn="left">
              <a:lnSpc>
                <a:spcPct val="115000"/>
              </a:lnSpc>
              <a:spcBfr>
                <a:spcPts val="5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30+ Crore Students: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Democratizes elite tier-1 personalized tutoring for rural and government school learners across India.</a:t>
            </a:r>
          </a:p>
          <a:p>
            <a:pPr marL="240000" indent="-240000" algn="left">
              <a:lnSpc>
                <a:spcPct val="115000"/>
              </a:lnSpc>
              <a:spcBfr>
                <a:spcPts val="5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Vernacular Pedagogy: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Multi-lingual remediation in Hindi, Bengali, Tamil, Telugu, and Marathi ensures linguistic inclusion.</a:t>
            </a:r>
          </a:p>
          <a:p>
            <a:pPr marL="240000" indent="-240000" algn="left">
              <a:lnSpc>
                <a:spcPct val="115000"/>
              </a:lnSpc>
              <a:spcBfr>
                <a:spcPts val="5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Economic Liberation: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Replaces predatory ₹50,000 annual course packages with free AI derivations and ₹10 micro-tutoring slots.</a:t>
            </a:r>
          </a:p>
          <a:p>
            <a:pPr marL="240000" indent="-240000" algn="left">
              <a:lnSpc>
                <a:spcPct val="115000"/>
              </a:lnSpc>
              <a:spcBfr>
                <a:spcPts val="5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Confidence Restoration: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Immediate root-cause diagnosis prevents academic dropouts by turning fear of subjects into mastery.</a:t>
            </a:r>
          </a:p>
        </p:txBody>
      </p:sp>
      <p:sp>
        <p:nvSpPr>
          <p:cNvPr id="82" name="ImpactRight"/>
          <p:cNvSpPr txBox="1"/>
          <p:nvPr/>
        </p:nvSpPr>
        <p:spPr>
          <a:xfrm>
            <a:off x="6150000" y="3450000"/>
            <a:ext cx="5450000" cy="27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eft">
              <a:lnSpc>
                <a:spcPct val="120000"/>
              </a:lnSpc>
              <a:spcBfr>
                <a:spcPts val="20000"/>
              </a:spcBfr>
              <a:buNone/>
            </a:pPr>
            <a:r>
              <a:rPr lang="en-US" sz="16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National Policy Alignment (NEP 2020 &amp; SDGs)</a:t>
            </a:r>
          </a:p>
          <a:p>
            <a:pPr marL="240000" indent="-240000" algn="left">
              <a:lnSpc>
                <a:spcPct val="115000"/>
              </a:lnSpc>
              <a:spcBfr>
                <a:spcPts val="5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NEP 2020 Section 4.3: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Directly implements experiential, adaptive learning and formative competency-based assessments.</a:t>
            </a:r>
          </a:p>
          <a:p>
            <a:pPr marL="240000" indent="-240000" algn="left">
              <a:lnSpc>
                <a:spcPct val="115000"/>
              </a:lnSpc>
              <a:spcBfr>
                <a:spcPts val="5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NEP 2020 Section 23: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Champions educational technology integration and AI-driven personalized remedial support.</a:t>
            </a:r>
          </a:p>
          <a:p>
            <a:pPr marL="240000" indent="-240000" algn="left">
              <a:lnSpc>
                <a:spcPct val="115000"/>
              </a:lnSpc>
              <a:spcBfr>
                <a:spcPts val="5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PARAKH NCERT Compliance: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Bridges learning gaps mapped against national performance standards and AICTE guidelines.</a:t>
            </a:r>
          </a:p>
          <a:p>
            <a:pPr marL="240000" indent="-240000" algn="left">
              <a:lnSpc>
                <a:spcPct val="115000"/>
              </a:lnSpc>
              <a:spcBfr>
                <a:spcPts val="50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UN SDG 4 &amp; 10: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Furthers Quality Education and Reduced Inequalities through equitable, accessible learning technology.</a:t>
            </a:r>
          </a:p>
        </p:txBody>
      </p:sp>
    </p:spTree>
    <p:extLst>
      <p:ext uri="{BB962C8B-B14F-4D97-AF65-F5344CB8AC3E}">
        <ns6:creationId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drawing/2017/decorative" xmlns:ns5="http://schemas.microsoft.com/office/drawing/2010/main" xmlns:ns6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ns2:creationId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ns2:creationId id="{5DBCE864-823D-4A13-9607-5DA1F0ED5FB8}"/>
              </a:ext>
              <a:ext uri="{C183D7F6-B498-43B3-948B-1728B52AA6E4}">
                <ns3:decorative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 b="1"/>
              <a:t>AUTHENTIX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1" name="RefLeft"/>
          <p:cNvSpPr txBox="1"/>
          <p:nvPr/>
        </p:nvSpPr>
        <p:spPr>
          <a:xfrm>
            <a:off x="600000" y="1950000"/>
            <a:ext cx="5300000" cy="42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eft">
              <a:lnSpc>
                <a:spcPct val="120000"/>
              </a:lnSpc>
              <a:spcBfr>
                <a:spcPts val="20000"/>
              </a:spcBfr>
              <a:buNone/>
            </a:pPr>
            <a:r>
              <a:rPr lang="en-US" sz="17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Academic Research &amp; Algorithmic Foundations</a:t>
            </a:r>
          </a:p>
          <a:p>
            <a:pPr marL="240000" indent="-240000" algn="left">
              <a:lnSpc>
                <a:spcPct val="115000"/>
              </a:lnSpc>
              <a:spcBfr>
                <a:spcPts val="65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Deep Knowledge Tracing (DKT):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Piech, C., Bassen, J., et al. (Stanford University), NeurIPS. Recurrent neural networks for modeling student knowledge over time.</a:t>
            </a:r>
          </a:p>
          <a:p>
            <a:pPr marL="240000" indent="-240000" algn="left">
              <a:lnSpc>
                <a:spcPct val="115000"/>
              </a:lnSpc>
              <a:spcBfr>
                <a:spcPts val="65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Cognitive Memory &amp; Spaced Repetition: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Wozniak, P., Optimization of Learning: Two Components of Long-Term Memory (SuperMemo SM-2 Algorithm).</a:t>
            </a:r>
          </a:p>
          <a:p>
            <a:pPr marL="240000" indent="-240000" algn="left">
              <a:lnSpc>
                <a:spcPct val="115000"/>
              </a:lnSpc>
              <a:spcBfr>
                <a:spcPts val="65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Dense Semantic Embeddings: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Reimers, N. &amp; Gurevych, I., Sentence-BERT: Sentence Embeddings using Siamese BERT-Networks (EMNLP).</a:t>
            </a:r>
          </a:p>
          <a:p>
            <a:pPr marL="240000" indent="-240000" algn="left">
              <a:lnSpc>
                <a:spcPct val="115000"/>
              </a:lnSpc>
              <a:spcBfr>
                <a:spcPts val="65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Bloom's 2-Sigma Problem: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Bloom, B. S., The 2 Sigma Problem: The Search for Methods of Group Instruction as Effective as One-to-One Tutoring.</a:t>
            </a:r>
          </a:p>
          <a:p>
            <a:pPr marL="240000" indent="-240000" algn="left">
              <a:lnSpc>
                <a:spcPct val="115000"/>
              </a:lnSpc>
              <a:spcBfr>
                <a:spcPts val="65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Knowledge Graph Remediation: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Chen, P., et al., Prerequisite Concept Graphs for Automated Adaptive Learning Path Generation.</a:t>
            </a:r>
          </a:p>
        </p:txBody>
      </p:sp>
      <p:sp>
        <p:nvSpPr>
          <p:cNvPr id="92" name="RefRight"/>
          <p:cNvSpPr txBox="1"/>
          <p:nvPr/>
        </p:nvSpPr>
        <p:spPr>
          <a:xfrm>
            <a:off x="6150000" y="1950000"/>
            <a:ext cx="5450000" cy="42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eft">
              <a:lnSpc>
                <a:spcPct val="120000"/>
              </a:lnSpc>
              <a:spcBfr>
                <a:spcPts val="20000"/>
              </a:spcBfr>
              <a:buNone/>
            </a:pPr>
            <a:r>
              <a:rPr lang="en-US" sz="175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Government Directives &amp; Curriculum Benchmarks</a:t>
            </a:r>
          </a:p>
          <a:p>
            <a:pPr marL="240000" indent="-240000" algn="left">
              <a:lnSpc>
                <a:spcPct val="115000"/>
              </a:lnSpc>
              <a:spcBfr>
                <a:spcPts val="65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National Education Policy (NEP 2020):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Ministry of Education, Government of India. Sections 4.3 &amp; 23 on digital pedagogy and adaptive remediation.</a:t>
            </a:r>
          </a:p>
          <a:p>
            <a:pPr marL="240000" indent="-240000" algn="left">
              <a:lnSpc>
                <a:spcPct val="115000"/>
              </a:lnSpc>
              <a:spcBfr>
                <a:spcPts val="65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AICTE Model Curriculum (R25 Guidelines):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Higher technical education engineering syllabus taxonomy and course outcome standards.</a:t>
            </a:r>
          </a:p>
          <a:p>
            <a:pPr marL="240000" indent="-240000" algn="left">
              <a:lnSpc>
                <a:spcPct val="115000"/>
              </a:lnSpc>
              <a:spcBfr>
                <a:spcPts val="65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PARAKH NCERT Standards: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National Assessment Centre guidelines on student diagnostics, holistic progress cards, and remedial feedback loops.</a:t>
            </a:r>
          </a:p>
          <a:p>
            <a:pPr marL="240000" indent="-240000" algn="left">
              <a:lnSpc>
                <a:spcPct val="115000"/>
              </a:lnSpc>
              <a:spcBfr>
                <a:spcPts val="65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AISHE Survey (Ministry of Education):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Baseline data on student-to-faculty ratios (24:1 national average) justifying automated peer tutoring.</a:t>
            </a:r>
          </a:p>
          <a:p>
            <a:pPr marL="240000" indent="-240000" algn="left">
              <a:lnSpc>
                <a:spcPct val="115000"/>
              </a:lnSpc>
              <a:spcBfr>
                <a:spcPts val="65000"/>
              </a:spcBfr>
              <a:buFont typeface="Arial"/>
              <a:buChar char="•"/>
            </a:pPr>
            <a:r>
              <a:rPr lang="en-US" sz="1300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DIKSHA &amp; SWAYAM PRABHA: </a:t>
            </a:r>
            <a:r>
              <a:rPr lang="en-US" sz="125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National digital infrastructure interoperability frameworks for open digital educational content.</a:t>
            </a:r>
          </a:p>
        </p:txBody>
      </p:sp>
    </p:spTree>
    <p:extLst>
      <p:ext uri="{BB962C8B-B14F-4D97-AF65-F5344CB8AC3E}">
        <ns6:creationId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